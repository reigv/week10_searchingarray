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92" d="100"/>
          <a:sy n="92" d="100"/>
        </p:scale>
        <p:origin x="295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78B309-6A46-4975-BC66-49ECF85361ED}" type="datetimeFigureOut">
              <a:rPr lang="en-CA" smtClean="0"/>
              <a:t>2025-03-10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79C2A4-9A20-4830-A85F-B78B7A55C60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010014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6E5CE-B117-F670-D6D2-F18E88502C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7E5E55-2822-F07D-73EB-C8A2F07AE1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C463DA-7591-54E8-5A38-A6538ECFB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285B6-63F3-40CA-8261-ED734768ADEE}" type="datetime1">
              <a:rPr lang="en-CA" smtClean="0"/>
              <a:t>2025-03-10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CF0524-4D0B-4C68-92B5-B515BE6FC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CE87D0-FADB-1F3C-A6FE-D9D5076A1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1A3E0-C5F4-4502-BDEA-6EA18A3414C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94891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8EEB2-416E-A04E-6271-662ED001E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3BC454-412E-12CF-9768-BB27ABA139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348194-647F-5682-26CD-C06254222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FB15C-C21D-4532-90BE-00F08A238BF7}" type="datetime1">
              <a:rPr lang="en-CA" smtClean="0"/>
              <a:t>2025-03-10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025300-D4E6-16AA-61C0-9B398EF1B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14E82C-2873-6B0A-2D92-683615F05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1A3E0-C5F4-4502-BDEA-6EA18A3414C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237241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F0BBD-A690-557D-B6AE-3273ABB77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107F8B-EFEB-6BA5-1D42-1BB70DBA8C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827D4B-FD67-76BE-67E6-47736EC63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26D15-81F4-4FB0-9864-A1589742BF70}" type="datetime1">
              <a:rPr lang="en-CA" smtClean="0"/>
              <a:t>2025-03-10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C50F1C-4F73-74BC-7B79-046B9D55D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8C0DD2-89F2-D6EB-E030-CFC108A35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1A3E0-C5F4-4502-BDEA-6EA18A3414C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936315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D7C0C-CAFC-1836-8F68-4CB64F842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CBD894-1223-6CD4-5F9F-B94559B2BE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68ED35-B4F2-AAD0-1CDF-0A37C5B3A7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858135-120B-73E3-74A9-5E21DF1AD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6040F-22C6-417F-946B-553341D6FBDF}" type="datetime1">
              <a:rPr lang="en-CA" smtClean="0"/>
              <a:t>2025-03-10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49C1BE-44AB-71DD-D09C-60825F2B9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6D8FB2-E209-07D4-BAC5-88C9B0021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1A3E0-C5F4-4502-BDEA-6EA18A3414C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866891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5C3E4-C155-031E-6F78-1757C22A5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A60701-E108-C679-7130-73131073B5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8558B7-E6F2-0C27-B238-D2691618AF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E91544-6786-92D2-2F6F-96DA235E46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6AEBFE-81F6-8723-FBB1-764DFFD90B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9EDB2A-AEF2-3E25-EEEE-3F85561CF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70EBF-EDA1-49AD-B0FE-AB729BC5D616}" type="datetime1">
              <a:rPr lang="en-CA" smtClean="0"/>
              <a:t>2025-03-10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60EB95-B093-66AC-AA98-958E9AF05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F8D314-E347-8A35-35CB-DCA9480E8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1A3E0-C5F4-4502-BDEA-6EA18A3414C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46416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FD15B-66CA-0C37-8CB7-BE013714E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1115FA-82AE-5769-B20C-B96DC6639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1BDD5-B8C5-436C-BBEE-DE5A71327438}" type="datetime1">
              <a:rPr lang="en-CA" smtClean="0"/>
              <a:t>2025-03-10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C8942B-B64A-4EB4-0ED7-563D905C2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23BD9C-C557-C039-0B28-25050B720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1A3E0-C5F4-4502-BDEA-6EA18A3414C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991619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C3AEC7-A030-9B1C-9B82-D90E6EB09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4BB80-4112-4F8A-AC37-CA2A3E1B5CD3}" type="datetime1">
              <a:rPr lang="en-CA" smtClean="0"/>
              <a:t>2025-03-10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483CC6-E8FE-4C8F-8A4A-403527492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F7FEB3-3B69-8EB3-4DE8-FE9658A98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1A3E0-C5F4-4502-BDEA-6EA18A3414C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48940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F6932-247F-EDFB-B078-A33E98896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327CD8-8F78-646A-9E75-075CFFE5E0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20F5C3-2683-A8AE-69EB-21CCB5F187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7F71AC-0B26-0EEB-9D6E-E04F54F22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0D788-8D2E-45A9-8D7C-E5E19BBA7637}" type="datetime1">
              <a:rPr lang="en-CA" smtClean="0"/>
              <a:t>2025-03-10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938E52-F2D5-8EE7-6D6A-DAB045CB9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99C7C5-E790-541F-CF98-03D3FD7CE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1A3E0-C5F4-4502-BDEA-6EA18A3414C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07613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0C8F9-0C66-3A79-0B77-23E957840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FA81DE-F138-B43D-BB43-052D7AEA3F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544BAA-7574-8C8F-C604-D9E5C9624E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20CE79-EF6A-8CD2-A872-A24208193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49980-2510-4972-9CA9-1AB36AD322C7}" type="datetime1">
              <a:rPr lang="en-CA" smtClean="0"/>
              <a:t>2025-03-10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D1A229-390F-06C7-391E-70C159A3C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1434F7-1AF9-6BC6-A3C5-A70B3A549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1A3E0-C5F4-4502-BDEA-6EA18A3414C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49580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2B4D-325C-41A4-8FA2-C9F983432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A1A2C-C5CA-D8CE-8018-83DE9DE718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D31489-7872-00DC-2113-164809471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688B8-C000-48C2-B22F-4AA0A5446818}" type="datetime1">
              <a:rPr lang="en-CA" smtClean="0"/>
              <a:t>2025-03-10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11A9A6-983A-BF25-B4A8-9CAF3DF8E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05D927-090F-C72D-3270-5593BDA5B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1A3E0-C5F4-4502-BDEA-6EA18A3414C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1951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76BD3C-5198-2D7B-0F31-0325FB9B84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60A7E0-47E3-298D-BD3D-DD66F8B013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91B3D5-A11A-0635-D9A0-01539EB86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C4272-BA23-41C0-AD3D-BA184DEF8187}" type="datetime1">
              <a:rPr lang="en-CA" smtClean="0"/>
              <a:t>2025-03-10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FD47E6-F4F3-0EAD-9C45-45CEC0ADB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7B61C-21D4-0224-85BF-B1E2B27C0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1A3E0-C5F4-4502-BDEA-6EA18A3414C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55439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F9319C-661F-6227-27FE-E7E2E7C6C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8C7F4B-2F1F-117B-DB47-A8FEDA5313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F35C92-14F6-A6DC-ED06-DA029104B0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03915C-1DDA-4C69-B7BC-C920AC645F92}" type="datetime1">
              <a:rPr lang="en-CA" smtClean="0"/>
              <a:t>2025-03-10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D07865-7F8F-C34C-A171-9D16C50ADE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4854A3-E2D2-A504-DB63-9C1881B0B4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81A3E0-C5F4-4502-BDEA-6EA18A3414C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65839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657107-6170-C5C4-1DF7-D01BE8ED4C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3" y="1999615"/>
            <a:ext cx="9144000" cy="2764028"/>
          </a:xfrm>
        </p:spPr>
        <p:txBody>
          <a:bodyPr anchor="ctr">
            <a:normAutofit/>
          </a:bodyPr>
          <a:lstStyle/>
          <a:p>
            <a:r>
              <a:rPr lang="en-CA" sz="6100"/>
              <a:t>SEP 420 – Web Programming and Scripting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C57089-EBFE-2C7C-18A7-F77D84AEEB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66912" y="5645150"/>
            <a:ext cx="8258176" cy="631825"/>
          </a:xfrm>
        </p:spPr>
        <p:txBody>
          <a:bodyPr anchor="ctr">
            <a:normAutofit/>
          </a:bodyPr>
          <a:lstStyle/>
          <a:p>
            <a:r>
              <a:rPr lang="en-CA" sz="2800"/>
              <a:t>Week 10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583660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4B3ACB-C7D3-CFC5-A5D5-61F15A272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CA" sz="4000" dirty="0"/>
              <a:t>Learning Outcomes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CD0BBA-CC93-5A2A-1318-A4DF171035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>
            <a:normAutofit/>
          </a:bodyPr>
          <a:lstStyle/>
          <a:p>
            <a:r>
              <a:rPr lang="en-CA" sz="2200" dirty="0"/>
              <a:t>Searching through Arrays</a:t>
            </a:r>
          </a:p>
          <a:p>
            <a:r>
              <a:rPr lang="en-CA" sz="2200" dirty="0"/>
              <a:t>Using functions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28A084-1D9C-4D13-472F-18E16CE3B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1A3E0-C5F4-4502-BDEA-6EA18A3414C9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014565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91BCF9-5EF9-5BCF-991D-F4566E8CF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CA" sz="4000" dirty="0"/>
              <a:t>Searching An Array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B3294-D328-B791-9EF1-38C8464723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>
            <a:normAutofit/>
          </a:bodyPr>
          <a:lstStyle/>
          <a:p>
            <a:pPr rtl="0"/>
            <a:r>
              <a:rPr lang="en-US" sz="2200" b="1" i="0" u="none" strike="noStrike" dirty="0">
                <a:effectLst/>
              </a:rPr>
              <a:t>How to search for an item in an array</a:t>
            </a:r>
            <a:endParaRPr lang="en-US" sz="2200" b="1" dirty="0">
              <a:effectLst/>
            </a:endParaRPr>
          </a:p>
          <a:p>
            <a:pPr rtl="0"/>
            <a:r>
              <a:rPr lang="en-US" sz="2200" b="0" i="0" u="none" strike="noStrike" dirty="0">
                <a:effectLst/>
              </a:rPr>
              <a:t>Here is the process for searching for an item in an array:</a:t>
            </a:r>
            <a:br>
              <a:rPr lang="en-US" sz="2200" b="0" dirty="0">
                <a:effectLst/>
              </a:rPr>
            </a:br>
            <a:endParaRPr lang="en-US" sz="2200" b="0" dirty="0">
              <a:effectLst/>
            </a:endParaRPr>
          </a:p>
          <a:p>
            <a:pPr marL="457200" indent="-457200" rtl="0" fontAlgn="base">
              <a:buFont typeface="+mj-lt"/>
              <a:buAutoNum type="arabicPeriod"/>
            </a:pPr>
            <a:r>
              <a:rPr lang="en-US" sz="2200" b="0" i="0" u="none" strike="noStrike" dirty="0">
                <a:effectLst/>
              </a:rPr>
              <a:t>Create a for-loop that iterates through each item in the array</a:t>
            </a:r>
          </a:p>
          <a:p>
            <a:pPr marL="457200" indent="-457200" rtl="0" fontAlgn="base">
              <a:buFont typeface="+mj-lt"/>
              <a:buAutoNum type="arabicPeriod"/>
            </a:pPr>
            <a:r>
              <a:rPr lang="en-US" sz="2200" b="0" i="0" u="none" strike="noStrike" dirty="0">
                <a:effectLst/>
              </a:rPr>
              <a:t>For each item in the array, check if the item matches the </a:t>
            </a:r>
            <a:r>
              <a:rPr lang="en-US" sz="2200" b="1" i="1" u="sng" strike="noStrike" dirty="0">
                <a:effectLst/>
              </a:rPr>
              <a:t>search criteria</a:t>
            </a:r>
            <a:endParaRPr lang="en-US" sz="2200" b="0" i="0" u="none" strike="noStrike" dirty="0">
              <a:effectLst/>
            </a:endParaRPr>
          </a:p>
          <a:p>
            <a:pPr marL="457200" indent="-457200" rtl="0" fontAlgn="base">
              <a:buFont typeface="+mj-lt"/>
              <a:buAutoNum type="arabicPeriod"/>
            </a:pPr>
            <a:r>
              <a:rPr lang="en-US" sz="2200" b="0" i="0" u="none" strike="noStrike" dirty="0">
                <a:effectLst/>
              </a:rPr>
              <a:t>If yes, then you found the item! And then do something with the item</a:t>
            </a:r>
          </a:p>
          <a:p>
            <a:pPr marL="457200" indent="-457200" rtl="0" fontAlgn="base">
              <a:buFont typeface="+mj-lt"/>
              <a:buAutoNum type="arabicPeriod"/>
            </a:pPr>
            <a:r>
              <a:rPr lang="en-US" sz="2200" b="0" i="0" u="none" strike="noStrike" dirty="0">
                <a:effectLst/>
              </a:rPr>
              <a:t>If no, then </a:t>
            </a:r>
            <a:r>
              <a:rPr lang="en-US" sz="2200" b="1" i="1" u="sng" strike="noStrike" dirty="0">
                <a:effectLst/>
              </a:rPr>
              <a:t>keep searching</a:t>
            </a:r>
            <a:r>
              <a:rPr lang="en-US" sz="2200" b="0" i="0" u="none" strike="noStrike" dirty="0">
                <a:effectLst/>
              </a:rPr>
              <a:t> until you reach the end of the array</a:t>
            </a:r>
          </a:p>
          <a:p>
            <a:endParaRPr lang="en-CA" sz="2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364860-4D8E-A682-4D86-77E9C4754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1A3E0-C5F4-4502-BDEA-6EA18A3414C9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954474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" name="Freeform: Shape 19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1" name="Freeform: Shape 20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0CBFE4-C638-2761-6E64-39487ECB3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239012"/>
          </a:xfrm>
        </p:spPr>
        <p:txBody>
          <a:bodyPr anchor="ctr">
            <a:normAutofit/>
          </a:bodyPr>
          <a:lstStyle/>
          <a:p>
            <a:r>
              <a:rPr lang="en-US" sz="2600" i="0" u="none" strike="noStrike" dirty="0">
                <a:effectLst/>
              </a:rPr>
              <a:t>Example:  Searching for a student named “Jasmine”</a:t>
            </a:r>
            <a:endParaRPr lang="en-CA" sz="26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FF190C-DC42-694D-1650-7EB103AD65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anchor="t">
            <a:normAutofit/>
          </a:bodyPr>
          <a:lstStyle/>
          <a:p>
            <a:pPr rtl="0"/>
            <a:r>
              <a:rPr lang="en-US" sz="1700" b="0" i="0" u="none" strike="noStrike" dirty="0">
                <a:effectLst/>
              </a:rPr>
              <a:t>In this example, the </a:t>
            </a:r>
            <a:r>
              <a:rPr lang="en-US" sz="1700" b="1" i="0" u="none" strike="noStrike" dirty="0">
                <a:effectLst/>
              </a:rPr>
              <a:t>search criteria</a:t>
            </a:r>
            <a:r>
              <a:rPr lang="en-US" sz="1700" b="0" i="0" u="none" strike="noStrike" dirty="0">
                <a:effectLst/>
              </a:rPr>
              <a:t> is looking for a student whose name is “Jasmine”</a:t>
            </a:r>
            <a:endParaRPr lang="en-US" sz="1700" b="0" dirty="0">
              <a:effectLst/>
            </a:endParaRPr>
          </a:p>
          <a:p>
            <a:pPr marL="0" indent="0">
              <a:buNone/>
            </a:pPr>
            <a:br>
              <a:rPr lang="en-US" sz="1700" dirty="0"/>
            </a:br>
            <a:endParaRPr lang="en-CA" sz="1700" dirty="0"/>
          </a:p>
        </p:txBody>
      </p:sp>
      <p:pic>
        <p:nvPicPr>
          <p:cNvPr id="5" name="Picture 4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10E93428-31D4-BBEA-BC68-CC49DE9A2D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1184" y="2017017"/>
            <a:ext cx="6922008" cy="292454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AF060D-4789-EF87-87A7-16C070953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1A3E0-C5F4-4502-BDEA-6EA18A3414C9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691447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85A3B9-F1BC-71BA-3A36-1A99F71C8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sz="3700" i="0" u="none" strike="noStrike" dirty="0">
                <a:effectLst/>
              </a:rPr>
              <a:t>How do you deal with the results of your search?</a:t>
            </a:r>
            <a:endParaRPr lang="en-CA" sz="37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B1A536-F646-0749-D4EF-BAD43BFBC7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148841"/>
            <a:ext cx="10168128" cy="4202084"/>
          </a:xfrm>
        </p:spPr>
        <p:txBody>
          <a:bodyPr>
            <a:normAutofit/>
          </a:bodyPr>
          <a:lstStyle/>
          <a:p>
            <a:pPr rtl="0"/>
            <a:r>
              <a:rPr lang="en-US" sz="1800" b="0" i="0" u="none" strike="noStrike" dirty="0">
                <a:effectLst/>
              </a:rPr>
              <a:t>Typically, developers create a variable to keep track of whether an item is found (or not). </a:t>
            </a:r>
            <a:endParaRPr lang="en-US" sz="1800" b="0" dirty="0">
              <a:effectLst/>
            </a:endParaRPr>
          </a:p>
          <a:p>
            <a:pPr marL="0" indent="0" rtl="0">
              <a:buNone/>
            </a:pPr>
            <a:endParaRPr lang="en-US" sz="1800" b="0" dirty="0">
              <a:effectLst/>
            </a:endParaRPr>
          </a:p>
          <a:p>
            <a:pPr marL="342900" indent="-342900" rtl="0" fontAlgn="base">
              <a:buFont typeface="+mj-lt"/>
              <a:buAutoNum type="arabicPeriod"/>
            </a:pPr>
            <a:r>
              <a:rPr lang="en-US" sz="1800" b="0" i="0" u="none" strike="noStrike" dirty="0">
                <a:effectLst/>
              </a:rPr>
              <a:t>Before the loop begins, the variable is set to </a:t>
            </a:r>
            <a:r>
              <a:rPr lang="en-US" sz="1800" b="0" i="1" u="none" strike="noStrike" dirty="0">
                <a:effectLst/>
              </a:rPr>
              <a:t>some</a:t>
            </a:r>
            <a:r>
              <a:rPr lang="en-US" sz="1800" b="0" i="0" u="none" strike="noStrike" dirty="0">
                <a:effectLst/>
              </a:rPr>
              <a:t> initial value.</a:t>
            </a:r>
            <a:br>
              <a:rPr lang="en-US" sz="1800" b="0" dirty="0">
                <a:effectLst/>
              </a:rPr>
            </a:br>
            <a:endParaRPr lang="en-US" sz="1800" b="0" dirty="0">
              <a:effectLst/>
            </a:endParaRPr>
          </a:p>
          <a:p>
            <a:pPr marL="342900" indent="-342900" rtl="0" fontAlgn="base">
              <a:buFont typeface="+mj-lt"/>
              <a:buAutoNum type="arabicPeriod"/>
            </a:pPr>
            <a:r>
              <a:rPr lang="en-US" sz="1800" b="0" i="0" u="none" strike="noStrike" dirty="0">
                <a:effectLst/>
              </a:rPr>
              <a:t>If the item is found, the variable’s value is updated to some value that helps the developer identify that a match was found.</a:t>
            </a:r>
            <a:br>
              <a:rPr lang="en-US" sz="1800" b="0" dirty="0">
                <a:effectLst/>
              </a:rPr>
            </a:br>
            <a:endParaRPr lang="en-US" sz="1800" b="0" dirty="0">
              <a:effectLst/>
            </a:endParaRPr>
          </a:p>
          <a:p>
            <a:pPr marL="342900" indent="-342900" rtl="0" fontAlgn="base">
              <a:buFont typeface="+mj-lt"/>
              <a:buAutoNum type="arabicPeriod"/>
            </a:pPr>
            <a:r>
              <a:rPr lang="en-US" sz="1800" b="0" i="0" u="none" strike="noStrike" dirty="0">
                <a:effectLst/>
              </a:rPr>
              <a:t>At the end of the loop, examine the value of the variable.</a:t>
            </a:r>
          </a:p>
          <a:p>
            <a:pPr marL="800100" lvl="1" indent="-342900" fontAlgn="base">
              <a:buFont typeface="+mj-lt"/>
              <a:buAutoNum type="arabicPeriod"/>
            </a:pPr>
            <a:r>
              <a:rPr lang="en-US" sz="1800" b="0" i="0" u="none" strike="noStrike" dirty="0">
                <a:effectLst/>
              </a:rPr>
              <a:t>If the variable retains its default value, then this means that a matching item was NOT found</a:t>
            </a:r>
          </a:p>
          <a:p>
            <a:pPr marL="800100" lvl="1" indent="-342900" fontAlgn="base">
              <a:buFont typeface="+mj-lt"/>
              <a:buAutoNum type="arabicPeriod"/>
            </a:pPr>
            <a:r>
              <a:rPr lang="en-US" sz="1800" b="0" i="0" u="none" strike="noStrike" dirty="0">
                <a:effectLst/>
              </a:rPr>
              <a:t>If the variable’s value is </a:t>
            </a:r>
            <a:r>
              <a:rPr lang="en-US" sz="1800" b="0" i="1" u="none" strike="noStrike" dirty="0">
                <a:effectLst/>
              </a:rPr>
              <a:t>different</a:t>
            </a:r>
            <a:r>
              <a:rPr lang="en-US" sz="1800" b="0" i="0" u="none" strike="noStrike" dirty="0">
                <a:effectLst/>
              </a:rPr>
              <a:t> from its default value, then this means a matching item was found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BC7FED-7ECE-97F9-5316-E3162F8B1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1A3E0-C5F4-4502-BDEA-6EA18A3414C9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222776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376243-FB59-3631-104F-E2AB776B9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239012"/>
          </a:xfrm>
        </p:spPr>
        <p:txBody>
          <a:bodyPr anchor="ctr">
            <a:normAutofit/>
          </a:bodyPr>
          <a:lstStyle/>
          <a:p>
            <a:r>
              <a:rPr lang="en-CA" sz="2800" b="0" i="0" u="none" strike="noStrike" dirty="0">
                <a:effectLst/>
              </a:rPr>
              <a:t>Example code</a:t>
            </a:r>
            <a:endParaRPr lang="en-CA" sz="28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FC7E8C-E2C3-C145-AB2C-0F4A5030FE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anchor="t">
            <a:normAutofit/>
          </a:bodyPr>
          <a:lstStyle/>
          <a:p>
            <a:pPr rtl="0"/>
            <a:r>
              <a:rPr lang="en-US" sz="1800" b="0" i="1" u="none" strike="noStrike" dirty="0">
                <a:effectLst/>
              </a:rPr>
              <a:t>NOTE: When you write your code you should use meaningful variable names! Not variable names like “a”, “b”, “c”, “x”!</a:t>
            </a:r>
            <a:endParaRPr lang="en-US" sz="1800" b="0" dirty="0">
              <a:effectLst/>
            </a:endParaRPr>
          </a:p>
          <a:p>
            <a:pPr marL="0" indent="0">
              <a:buNone/>
            </a:pPr>
            <a:br>
              <a:rPr lang="en-US" sz="1800" dirty="0"/>
            </a:br>
            <a:endParaRPr lang="en-CA" sz="1800" dirty="0"/>
          </a:p>
        </p:txBody>
      </p:sp>
      <p:pic>
        <p:nvPicPr>
          <p:cNvPr id="5" name="Picture 4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F0C3E710-7E6F-2792-E473-0E556669E0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2291" y="841248"/>
            <a:ext cx="6699794" cy="527608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A8FCC5-407F-149A-BAD8-395704A69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1A3E0-C5F4-4502-BDEA-6EA18A3414C9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000058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7C4C77-D2DC-FAB0-C0CE-9BACC0145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239012"/>
          </a:xfrm>
        </p:spPr>
        <p:txBody>
          <a:bodyPr anchor="ctr">
            <a:normAutofit/>
          </a:bodyPr>
          <a:lstStyle/>
          <a:p>
            <a:r>
              <a:rPr lang="en-US" sz="2600" i="0" u="none" strike="noStrike" dirty="0">
                <a:effectLst/>
              </a:rPr>
              <a:t>What do I set the default value of the tracking variable to?</a:t>
            </a:r>
            <a:endParaRPr lang="en-CA" sz="26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1C90D9-96A6-A2BC-B029-83583010D6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32" y="2517734"/>
            <a:ext cx="5315989" cy="4218068"/>
          </a:xfrm>
          <a:solidFill>
            <a:schemeClr val="bg1"/>
          </a:solidFill>
        </p:spPr>
        <p:txBody>
          <a:bodyPr anchor="t">
            <a:noAutofit/>
          </a:bodyPr>
          <a:lstStyle/>
          <a:p>
            <a:pPr rtl="0"/>
            <a:r>
              <a:rPr lang="en-US" sz="1600" b="0" i="0" u="none" strike="noStrike" dirty="0">
                <a:effectLst/>
              </a:rPr>
              <a:t>This depends on what you want to do </a:t>
            </a:r>
            <a:r>
              <a:rPr lang="en-US" sz="1600" b="0" i="1" u="none" strike="noStrike" dirty="0">
                <a:effectLst/>
              </a:rPr>
              <a:t>when</a:t>
            </a:r>
            <a:r>
              <a:rPr lang="en-US" sz="1600" b="0" i="0" u="none" strike="noStrike" dirty="0">
                <a:effectLst/>
              </a:rPr>
              <a:t> you find a matching item.</a:t>
            </a:r>
            <a:endParaRPr lang="en-US" sz="1600" b="0" dirty="0">
              <a:effectLst/>
            </a:endParaRPr>
          </a:p>
          <a:p>
            <a:pPr rtl="0"/>
            <a:r>
              <a:rPr lang="en-US" sz="1600" b="1" i="0" u="none" strike="noStrike" dirty="0">
                <a:effectLst/>
              </a:rPr>
              <a:t>Example 1:  Does a matching item exist?</a:t>
            </a:r>
            <a:endParaRPr lang="en-US" sz="1600" b="0" dirty="0">
              <a:effectLst/>
            </a:endParaRPr>
          </a:p>
          <a:p>
            <a:pPr rtl="0"/>
            <a:r>
              <a:rPr lang="en-US" sz="1600" b="0" i="0" u="none" strike="noStrike" dirty="0">
                <a:effectLst/>
              </a:rPr>
              <a:t>If you simply want to know whether a matching item exists, then use </a:t>
            </a:r>
            <a:r>
              <a:rPr lang="en-US" sz="1600" b="1" i="0" u="none" strike="noStrike" dirty="0" err="1">
                <a:effectLst/>
              </a:rPr>
              <a:t>boolean</a:t>
            </a:r>
            <a:r>
              <a:rPr lang="en-US" sz="1600" b="0" i="0" u="none" strike="noStrike" dirty="0">
                <a:effectLst/>
              </a:rPr>
              <a:t> values.</a:t>
            </a:r>
            <a:endParaRPr lang="en-US" sz="1600" b="0" dirty="0">
              <a:effectLst/>
            </a:endParaRPr>
          </a:p>
          <a:p>
            <a:pPr rtl="0"/>
            <a:r>
              <a:rPr lang="en-US" sz="1600" b="0" i="0" u="none" strike="noStrike" dirty="0">
                <a:effectLst/>
              </a:rPr>
              <a:t>Default value: </a:t>
            </a:r>
            <a:r>
              <a:rPr lang="en-US" sz="1600" b="0" i="1" u="none" strike="noStrike" dirty="0">
                <a:effectLst/>
              </a:rPr>
              <a:t>false</a:t>
            </a:r>
            <a:endParaRPr lang="en-US" sz="1600" b="0" i="0" u="none" strike="noStrike" dirty="0">
              <a:effectLst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effectLst/>
              </a:rPr>
              <a:t>If the item is found, update the tracking variable to </a:t>
            </a:r>
            <a:r>
              <a:rPr lang="en-US" sz="1600" b="0" i="1" u="none" strike="noStrike" dirty="0">
                <a:effectLst/>
              </a:rPr>
              <a:t>true</a:t>
            </a:r>
            <a:r>
              <a:rPr lang="en-US" sz="1600" b="0" i="0" u="none" strike="noStrike" dirty="0">
                <a:effectLst/>
              </a:rPr>
              <a:t>.</a:t>
            </a:r>
            <a:endParaRPr lang="en-US" sz="1600" b="0" dirty="0">
              <a:effectLst/>
            </a:endParaRPr>
          </a:p>
          <a:p>
            <a:pPr rtl="0"/>
            <a:r>
              <a:rPr lang="en-US" sz="1600" b="1" i="0" u="none" strike="noStrike" dirty="0">
                <a:effectLst/>
              </a:rPr>
              <a:t>Example 2: Where in the array is the matching item located?</a:t>
            </a:r>
            <a:endParaRPr lang="en-US" sz="1600" b="0" dirty="0">
              <a:effectLst/>
            </a:endParaRPr>
          </a:p>
          <a:p>
            <a:pPr rtl="0"/>
            <a:r>
              <a:rPr lang="en-US" sz="1600" b="0" i="0" u="none" strike="noStrike" dirty="0">
                <a:effectLst/>
              </a:rPr>
              <a:t>If you need the position number of the first matching item, then use a </a:t>
            </a:r>
            <a:r>
              <a:rPr lang="en-US" sz="1600" b="1" i="0" u="none" strike="noStrike" dirty="0">
                <a:effectLst/>
              </a:rPr>
              <a:t>number</a:t>
            </a:r>
            <a:r>
              <a:rPr lang="en-US" sz="1600" b="0" i="0" u="none" strike="noStrike" dirty="0">
                <a:effectLst/>
              </a:rPr>
              <a:t> value.</a:t>
            </a:r>
            <a:endParaRPr lang="en-US" sz="1600" b="0" dirty="0">
              <a:effectLst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effectLst/>
              </a:rPr>
              <a:t>Default value:  </a:t>
            </a:r>
            <a:r>
              <a:rPr lang="en-US" sz="1600" b="1" i="0" u="none" strike="noStrike" dirty="0">
                <a:effectLst/>
              </a:rPr>
              <a:t>-1</a:t>
            </a:r>
            <a:endParaRPr lang="en-US" sz="1600" b="0" i="0" u="none" strike="noStrike" dirty="0">
              <a:effectLst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effectLst/>
              </a:rPr>
              <a:t>If the item is found, update the tracking variable to the position number of the matching item</a:t>
            </a:r>
          </a:p>
        </p:txBody>
      </p:sp>
      <p:pic>
        <p:nvPicPr>
          <p:cNvPr id="5" name="Picture 4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B2095020-9BB0-F47B-4B6F-75C68FBC51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7077" y="1161288"/>
            <a:ext cx="6922008" cy="4655051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F06A31-C2AC-45B8-45F5-FD93714C9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1A3E0-C5F4-4502-BDEA-6EA18A3414C9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87081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1FFEE3-B4F6-02F0-72E8-C5C89910D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239012"/>
          </a:xfrm>
        </p:spPr>
        <p:txBody>
          <a:bodyPr anchor="ctr">
            <a:normAutofit/>
          </a:bodyPr>
          <a:lstStyle/>
          <a:p>
            <a:pPr rtl="0"/>
            <a:r>
              <a:rPr lang="en-US" sz="2600" i="0" u="none" strike="noStrike" dirty="0">
                <a:effectLst/>
              </a:rPr>
              <a:t>Example 3: Tracking Variables and Arrays of Objects</a:t>
            </a:r>
            <a:endParaRPr lang="en-CA" sz="26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25B4D2-49B9-A907-8C3E-CC63AF5321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anchor="t">
            <a:normAutofit/>
          </a:bodyPr>
          <a:lstStyle/>
          <a:p>
            <a:pPr rtl="0"/>
            <a:r>
              <a:rPr lang="en-US" sz="1700" b="0" i="0" u="none" strike="noStrike" dirty="0">
                <a:effectLst/>
                <a:latin typeface="Arial" panose="020B0604020202020204" pitchFamily="34" charset="0"/>
              </a:rPr>
              <a:t>Suppose you want to retrieve a specific matching item from an array of objects and then do something with that object</a:t>
            </a:r>
            <a:br>
              <a:rPr lang="en-US" sz="1700" b="0" dirty="0">
                <a:effectLst/>
              </a:rPr>
            </a:br>
            <a:endParaRPr lang="en-US" sz="1700" b="0" dirty="0">
              <a:effectLst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700" b="0" i="0" u="none" strike="noStrike" dirty="0">
                <a:effectLst/>
                <a:latin typeface="Arial" panose="020B0604020202020204" pitchFamily="34" charset="0"/>
              </a:rPr>
              <a:t>Default value: </a:t>
            </a:r>
            <a:r>
              <a:rPr lang="en-US" sz="1700" b="0" i="0" u="none" strike="noStrike" dirty="0">
                <a:effectLst/>
                <a:latin typeface="Consolas" panose="020B0609020204030204" pitchFamily="49" charset="0"/>
              </a:rPr>
              <a:t>null</a:t>
            </a:r>
            <a:r>
              <a:rPr lang="en-US" sz="1700" b="0" i="0" u="none" strike="noStrike" dirty="0">
                <a:effectLst/>
                <a:latin typeface="Arial" panose="020B0604020202020204" pitchFamily="34" charset="0"/>
              </a:rPr>
              <a:t> (null means “does not exist”)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700" b="0" i="0" u="none" strike="noStrike" dirty="0">
                <a:effectLst/>
                <a:latin typeface="Arial" panose="020B0604020202020204" pitchFamily="34" charset="0"/>
              </a:rPr>
              <a:t>If the search criteria is found, set the tracking variable to the matching object</a:t>
            </a:r>
          </a:p>
          <a:p>
            <a:endParaRPr lang="en-CA" sz="1700" dirty="0"/>
          </a:p>
        </p:txBody>
      </p:sp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C548BB33-E0E1-5269-51E2-9B476B17BB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1184" y="1073894"/>
            <a:ext cx="6922008" cy="4810796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402C8E-8F14-6F58-A9FC-033C6EE9A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1A3E0-C5F4-4502-BDEA-6EA18A3414C9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636251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8D5BBE-7D87-A5F8-0791-8080943AF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sz="3700" i="0" u="none" strike="noStrike" dirty="0">
                <a:effectLst/>
              </a:rPr>
              <a:t>When an item is found, do I need to keep searching the array?</a:t>
            </a:r>
            <a:endParaRPr lang="en-CA" sz="37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3245D-3DAB-929A-D381-16D85A08D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834" y="2157153"/>
            <a:ext cx="10784862" cy="4626032"/>
          </a:xfrm>
        </p:spPr>
        <p:txBody>
          <a:bodyPr>
            <a:normAutofit fontScale="47500" lnSpcReduction="20000"/>
          </a:bodyPr>
          <a:lstStyle/>
          <a:p>
            <a:pPr rtl="0"/>
            <a:r>
              <a:rPr lang="en-US" sz="4500" b="1" i="0" u="none" strike="noStrike" dirty="0">
                <a:effectLst/>
              </a:rPr>
              <a:t>You MUST keep searching if:</a:t>
            </a:r>
            <a:endParaRPr lang="en-US" sz="4500" b="0" dirty="0">
              <a:effectLst/>
            </a:endParaRPr>
          </a:p>
          <a:p>
            <a:pPr rtl="0" fontAlgn="base">
              <a:buFont typeface="+mj-lt"/>
              <a:buAutoNum type="arabicPeriod"/>
            </a:pPr>
            <a:r>
              <a:rPr lang="en-US" sz="4500" b="0" i="0" u="none" strike="noStrike" dirty="0">
                <a:effectLst/>
              </a:rPr>
              <a:t>Your list </a:t>
            </a:r>
            <a:r>
              <a:rPr lang="en-US" sz="4500" b="1" i="0" u="none" strike="noStrike" dirty="0">
                <a:effectLst/>
              </a:rPr>
              <a:t>contains</a:t>
            </a:r>
            <a:r>
              <a:rPr lang="en-US" sz="4500" b="0" i="0" u="none" strike="noStrike" dirty="0">
                <a:effectLst/>
              </a:rPr>
              <a:t> many items that meet the search criteria AND</a:t>
            </a:r>
          </a:p>
          <a:p>
            <a:pPr rtl="0" fontAlgn="base">
              <a:buFont typeface="+mj-lt"/>
              <a:buAutoNum type="arabicPeriod"/>
            </a:pPr>
            <a:r>
              <a:rPr lang="en-US" sz="4500" b="0" i="0" u="none" strike="noStrike" dirty="0">
                <a:effectLst/>
              </a:rPr>
              <a:t>You want to find </a:t>
            </a:r>
            <a:r>
              <a:rPr lang="en-US" sz="4500" b="1" i="0" u="none" strike="noStrike" dirty="0">
                <a:effectLst/>
              </a:rPr>
              <a:t>all</a:t>
            </a:r>
            <a:r>
              <a:rPr lang="en-US" sz="4500" b="0" i="0" u="none" strike="noStrike" dirty="0">
                <a:effectLst/>
              </a:rPr>
              <a:t> matching items</a:t>
            </a:r>
            <a:endParaRPr lang="en-US" sz="4500" b="0" dirty="0">
              <a:effectLst/>
            </a:endParaRPr>
          </a:p>
          <a:p>
            <a:pPr rtl="0"/>
            <a:r>
              <a:rPr lang="en-US" sz="4500" b="1" i="1" u="none" strike="noStrike" dirty="0">
                <a:effectLst/>
              </a:rPr>
              <a:t>Examples</a:t>
            </a:r>
            <a:r>
              <a:rPr lang="en-US" sz="4500" b="1" i="0" u="none" strike="noStrike" dirty="0">
                <a:effectLst/>
              </a:rPr>
              <a:t>:</a:t>
            </a:r>
            <a:endParaRPr lang="en-US" sz="4500" b="0" dirty="0">
              <a:effectLst/>
            </a:endParaRPr>
          </a:p>
          <a:p>
            <a:pPr marL="914400" indent="-914400" rtl="0">
              <a:buFont typeface="+mj-lt"/>
              <a:buAutoNum type="arabicPeriod"/>
            </a:pPr>
            <a:r>
              <a:rPr lang="en-US" sz="4500" b="0" i="0" u="none" strike="noStrike" dirty="0">
                <a:effectLst/>
              </a:rPr>
              <a:t>Given a list of test scores, search for all scores &gt; 80%</a:t>
            </a:r>
            <a:endParaRPr lang="en-US" sz="45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4100" b="0" i="0" u="none" strike="noStrike" dirty="0">
                <a:effectLst/>
              </a:rPr>
              <a:t>In a class, it is very likely that there is more than one student who achieved an 80%+ on the tier test.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4500" b="0" i="0" u="none" strike="noStrike" dirty="0">
                <a:effectLst/>
              </a:rPr>
              <a:t>Thus, the professor cannot simply stop searching when they find the first student with 80%. 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4500" b="0" i="0" u="none" strike="noStrike" dirty="0">
                <a:effectLst/>
              </a:rPr>
              <a:t>They have to search through the entire class list of test scores.</a:t>
            </a:r>
          </a:p>
          <a:p>
            <a:pPr marL="457200" lvl="1" indent="0">
              <a:buNone/>
            </a:pPr>
            <a:endParaRPr lang="en-US" sz="4500" b="0" dirty="0">
              <a:effectLst/>
            </a:endParaRPr>
          </a:p>
          <a:p>
            <a:pPr marL="914400" indent="-914400" rtl="0">
              <a:buFont typeface="+mj-lt"/>
              <a:buAutoNum type="arabicPeriod"/>
            </a:pPr>
            <a:r>
              <a:rPr lang="en-US" sz="4500" b="0" i="0" u="none" strike="noStrike" dirty="0">
                <a:effectLst/>
              </a:rPr>
              <a:t>Given a student’s email inbox, find all emails sent by their professor.</a:t>
            </a:r>
            <a:endParaRPr lang="en-US" sz="4500" i="0" u="none" strike="noStrike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4100" b="0" i="0" u="none" strike="noStrike" dirty="0">
                <a:effectLst/>
              </a:rPr>
              <a:t>All college students will have an inbox filled with emails from a variety of people (college, professors, friends, possible employers, </a:t>
            </a:r>
            <a:r>
              <a:rPr lang="en-US" sz="4100" b="0" i="0" u="none" strike="noStrike" dirty="0" err="1">
                <a:effectLst/>
              </a:rPr>
              <a:t>etc</a:t>
            </a:r>
            <a:r>
              <a:rPr lang="en-US" sz="4100" b="0" i="0" u="none" strike="noStrike" dirty="0">
                <a:effectLst/>
              </a:rPr>
              <a:t>). 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4500" b="0" i="0" u="none" strike="noStrike" dirty="0">
                <a:effectLst/>
              </a:rPr>
              <a:t>If you want to get all the emails sent by a specific person, then you must </a:t>
            </a:r>
            <a:r>
              <a:rPr lang="en-US" sz="4500" b="0" i="1" u="none" strike="noStrike" dirty="0">
                <a:effectLst/>
              </a:rPr>
              <a:t>examine</a:t>
            </a:r>
            <a:r>
              <a:rPr lang="en-US" sz="4500" b="0" i="0" u="none" strike="noStrike" dirty="0">
                <a:effectLst/>
              </a:rPr>
              <a:t> all items in the inbox.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712E1F-CF5D-45B4-4A44-43272B204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1A3E0-C5F4-4502-BDEA-6EA18A3414C9}" type="slidenum">
              <a:rPr lang="en-CA" smtClean="0"/>
              <a:t>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077571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D5218C-BAF4-256D-9724-7E78B39AB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845" y="317705"/>
            <a:ext cx="10168128" cy="1179576"/>
          </a:xfrm>
        </p:spPr>
        <p:txBody>
          <a:bodyPr>
            <a:normAutofit fontScale="90000"/>
          </a:bodyPr>
          <a:lstStyle/>
          <a:p>
            <a:r>
              <a:rPr lang="en-US" sz="4000" i="0" u="none" strike="noStrike" dirty="0">
                <a:effectLst/>
              </a:rPr>
              <a:t>When an item is found, do I need to keep searching the array?</a:t>
            </a:r>
            <a:endParaRPr lang="en-CA" sz="40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1E5612-88F1-1A42-25C3-9FC32FC5BB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209" y="1783080"/>
            <a:ext cx="11212613" cy="4938395"/>
          </a:xfrm>
          <a:solidFill>
            <a:schemeClr val="bg1"/>
          </a:solidFill>
        </p:spPr>
        <p:txBody>
          <a:bodyPr>
            <a:noAutofit/>
          </a:bodyPr>
          <a:lstStyle/>
          <a:p>
            <a:pPr rtl="0"/>
            <a:r>
              <a:rPr lang="en-US" sz="1300" b="1" i="0" u="none" strike="noStrike" dirty="0">
                <a:effectLst/>
                <a:latin typeface="Arial" panose="020B0604020202020204" pitchFamily="34" charset="0"/>
              </a:rPr>
              <a:t>You do NOT need to keep searching if:</a:t>
            </a:r>
            <a:endParaRPr lang="en-US" sz="1300" b="0" dirty="0">
              <a:effectLst/>
            </a:endParaRPr>
          </a:p>
          <a:p>
            <a:pPr rtl="0" fontAlgn="base">
              <a:buFont typeface="+mj-lt"/>
              <a:buAutoNum type="arabicPeriod"/>
            </a:pPr>
            <a:r>
              <a:rPr lang="en-US" sz="1300" b="0" i="0" u="none" strike="noStrike" dirty="0">
                <a:effectLst/>
                <a:latin typeface="Arial" panose="020B0604020202020204" pitchFamily="34" charset="0"/>
              </a:rPr>
              <a:t>Every item in your array is unique OR</a:t>
            </a:r>
          </a:p>
          <a:p>
            <a:pPr rtl="0" fontAlgn="base">
              <a:buFont typeface="+mj-lt"/>
              <a:buAutoNum type="arabicPeriod"/>
            </a:pPr>
            <a:r>
              <a:rPr lang="en-US" sz="1300" b="0" i="0" u="none" strike="noStrike" dirty="0">
                <a:effectLst/>
                <a:latin typeface="Arial" panose="020B0604020202020204" pitchFamily="34" charset="0"/>
              </a:rPr>
              <a:t>Many items in your list meet the search criteria, BUT you only care about finding the </a:t>
            </a:r>
            <a:r>
              <a:rPr lang="en-US" sz="1300" b="0" i="1" u="none" strike="noStrike" dirty="0">
                <a:effectLst/>
                <a:latin typeface="Arial" panose="020B0604020202020204" pitchFamily="34" charset="0"/>
              </a:rPr>
              <a:t>first</a:t>
            </a:r>
            <a:r>
              <a:rPr lang="en-US" sz="1300" b="0" i="0" u="none" strike="noStrike" dirty="0">
                <a:effectLst/>
                <a:latin typeface="Arial" panose="020B0604020202020204" pitchFamily="34" charset="0"/>
              </a:rPr>
              <a:t> occurrence of an item</a:t>
            </a:r>
            <a:br>
              <a:rPr lang="en-US" sz="1300" b="0" dirty="0">
                <a:effectLst/>
              </a:rPr>
            </a:br>
            <a:endParaRPr lang="en-US" sz="1300" b="0" dirty="0">
              <a:effectLst/>
            </a:endParaRPr>
          </a:p>
          <a:p>
            <a:pPr rtl="0"/>
            <a:r>
              <a:rPr lang="en-US" sz="1300" b="1" i="1" u="none" strike="noStrike" dirty="0">
                <a:effectLst/>
                <a:latin typeface="Arial" panose="020B0604020202020204" pitchFamily="34" charset="0"/>
              </a:rPr>
              <a:t>Example:  Every item in the array is unique</a:t>
            </a:r>
            <a:endParaRPr lang="en-US" sz="1300" b="0" dirty="0">
              <a:effectLst/>
            </a:endParaRPr>
          </a:p>
          <a:p>
            <a:pPr rtl="0"/>
            <a:r>
              <a:rPr lang="en-US" sz="1300" b="0" i="0" u="none" strike="noStrike" dirty="0">
                <a:effectLst/>
                <a:latin typeface="Arial" panose="020B0604020202020204" pitchFamily="34" charset="0"/>
              </a:rPr>
              <a:t>Given a list of student ids, check if there is a student with the id: 1005235</a:t>
            </a:r>
            <a:endParaRPr lang="en-US" sz="1300" b="0" dirty="0">
              <a:effectLst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300" b="0" i="0" u="none" strike="noStrike" dirty="0">
                <a:effectLst/>
                <a:latin typeface="Arial" panose="020B0604020202020204" pitchFamily="34" charset="0"/>
              </a:rPr>
              <a:t>By definition, each student has a unique student id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300" b="0" i="0" u="none" strike="noStrike" dirty="0">
                <a:effectLst/>
                <a:latin typeface="Arial" panose="020B0604020202020204" pitchFamily="34" charset="0"/>
              </a:rPr>
              <a:t>Therefore, every value in the list should be unique.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300" b="0" i="0" u="none" strike="noStrike" dirty="0">
                <a:effectLst/>
                <a:latin typeface="Arial" panose="020B0604020202020204" pitchFamily="34" charset="0"/>
              </a:rPr>
              <a:t>If you find a matching student id, there is no need to continue searching because you know that the remaining items will not match.</a:t>
            </a:r>
          </a:p>
          <a:p>
            <a:pPr rtl="0"/>
            <a:r>
              <a:rPr lang="en-US" sz="1300" b="1" i="1" u="none" strike="noStrike" dirty="0">
                <a:effectLst/>
                <a:latin typeface="Arial" panose="020B0604020202020204" pitchFamily="34" charset="0"/>
              </a:rPr>
              <a:t>Example: Many items meet search criteria, but you only care about finding the first occurrence</a:t>
            </a:r>
            <a:endParaRPr lang="en-US" sz="1300" b="0" dirty="0">
              <a:effectLst/>
            </a:endParaRPr>
          </a:p>
          <a:p>
            <a:pPr rtl="0"/>
            <a:r>
              <a:rPr lang="en-US" sz="1300" b="0" i="0" u="none" strike="noStrike" dirty="0">
                <a:effectLst/>
                <a:latin typeface="Arial" panose="020B0604020202020204" pitchFamily="34" charset="0"/>
              </a:rPr>
              <a:t>Does Netflix have any movies that are 120 minutes in length or longer?</a:t>
            </a:r>
            <a:endParaRPr lang="en-US" sz="1300" b="0" dirty="0">
              <a:effectLst/>
            </a:endParaRPr>
          </a:p>
          <a:p>
            <a:pPr rtl="0"/>
            <a:r>
              <a:rPr lang="en-US" sz="1300" b="0" i="0" u="none" strike="noStrike" dirty="0">
                <a:effectLst/>
                <a:latin typeface="Arial" panose="020B0604020202020204" pitchFamily="34" charset="0"/>
              </a:rPr>
              <a:t>Among all the movies on Netflix, there are likely many movies that meet the search criteria. However, the question is asking you if there </a:t>
            </a:r>
            <a:r>
              <a:rPr lang="en-US" sz="1300" b="0" i="1" u="none" strike="noStrike" dirty="0">
                <a:effectLst/>
                <a:latin typeface="Arial" panose="020B0604020202020204" pitchFamily="34" charset="0"/>
              </a:rPr>
              <a:t>exists</a:t>
            </a:r>
            <a:r>
              <a:rPr lang="en-US" sz="1300" b="0" i="0" u="none" strike="noStrike" dirty="0">
                <a:effectLst/>
                <a:latin typeface="Arial" panose="020B0604020202020204" pitchFamily="34" charset="0"/>
              </a:rPr>
              <a:t> a movie that is &gt;= 120 minutes.</a:t>
            </a:r>
            <a:endParaRPr lang="en-US" sz="1300" b="0" dirty="0">
              <a:effectLst/>
            </a:endParaRPr>
          </a:p>
          <a:p>
            <a:pPr rtl="0"/>
            <a:r>
              <a:rPr lang="en-US" sz="1300" b="0" i="0" u="none" strike="noStrike" dirty="0">
                <a:effectLst/>
                <a:latin typeface="Arial" panose="020B0604020202020204" pitchFamily="34" charset="0"/>
              </a:rPr>
              <a:t>It doesn't matter if there are 5 matching movies, 50 matching movies, or 500 matching movies. The question only cares about whether there is </a:t>
            </a:r>
            <a:r>
              <a:rPr lang="en-US" sz="1300" b="1" i="0" u="none" strike="noStrike" dirty="0">
                <a:effectLst/>
                <a:latin typeface="Arial" panose="020B0604020202020204" pitchFamily="34" charset="0"/>
              </a:rPr>
              <a:t>at least 1</a:t>
            </a:r>
            <a:r>
              <a:rPr lang="en-US" sz="1300" b="0" i="0" u="none" strike="noStrike" dirty="0">
                <a:effectLst/>
                <a:latin typeface="Arial" panose="020B0604020202020204" pitchFamily="34" charset="0"/>
              </a:rPr>
              <a:t> movie that matches.</a:t>
            </a:r>
            <a:endParaRPr lang="en-US" sz="1300" b="0" dirty="0">
              <a:effectLst/>
            </a:endParaRPr>
          </a:p>
          <a:p>
            <a:pPr rtl="0"/>
            <a:r>
              <a:rPr lang="en-US" sz="1300" b="0" i="0" u="none" strike="noStrike" dirty="0">
                <a:effectLst/>
                <a:latin typeface="Arial" panose="020B0604020202020204" pitchFamily="34" charset="0"/>
              </a:rPr>
              <a:t>Thus, you just need to check if you can find </a:t>
            </a:r>
            <a:r>
              <a:rPr lang="en-US" sz="1300" b="0" i="1" u="none" strike="noStrike" dirty="0">
                <a:effectLst/>
                <a:latin typeface="Arial" panose="020B0604020202020204" pitchFamily="34" charset="0"/>
              </a:rPr>
              <a:t>one</a:t>
            </a:r>
            <a:r>
              <a:rPr lang="en-US" sz="1300" b="0" i="0" u="none" strike="noStrike" dirty="0">
                <a:effectLst/>
                <a:latin typeface="Arial" panose="020B0604020202020204" pitchFamily="34" charset="0"/>
              </a:rPr>
              <a:t> movie that matches.</a:t>
            </a:r>
            <a:endParaRPr lang="en-US" sz="1300" b="0" dirty="0">
              <a:effectLst/>
            </a:endParaRPr>
          </a:p>
          <a:p>
            <a:pPr rtl="0"/>
            <a:r>
              <a:rPr lang="en-US" sz="1300" b="0" i="0" u="none" strike="noStrike" dirty="0">
                <a:effectLst/>
                <a:latin typeface="Arial" panose="020B0604020202020204" pitchFamily="34" charset="0"/>
              </a:rPr>
              <a:t>If yes, then you’ve answered the question…and there is no need to continue searching.</a:t>
            </a:r>
            <a:br>
              <a:rPr lang="en-US" sz="1200" b="0" dirty="0">
                <a:effectLst/>
              </a:rPr>
            </a:br>
            <a:endParaRPr lang="en-US" sz="1200" b="0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DE7E1A-7D5C-82EB-5C17-775E804A0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1A3E0-C5F4-4502-BDEA-6EA18A3414C9}" type="slidenum">
              <a:rPr lang="en-CA" smtClean="0"/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050481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E39660-AB16-6B72-9AFB-61EC1E919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sz="4000" i="0" u="none" strike="noStrike" dirty="0">
                <a:effectLst/>
              </a:rPr>
              <a:t>Example: Searching a List of Employees</a:t>
            </a:r>
            <a:endParaRPr lang="en-CA" sz="40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269189-F81E-5E4A-E96E-DF54F38CEA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209" y="1683327"/>
            <a:ext cx="10168128" cy="5091546"/>
          </a:xfrm>
        </p:spPr>
        <p:txBody>
          <a:bodyPr>
            <a:normAutofit fontScale="70000" lnSpcReduction="20000"/>
          </a:bodyPr>
          <a:lstStyle/>
          <a:p>
            <a:pPr marL="0" rtl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900" b="0" i="0" u="none" strike="noStrike" dirty="0"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Given an array of employees, </a:t>
            </a:r>
            <a:r>
              <a:rPr lang="en-US" sz="1900" b="1" i="0" u="none" strike="noStrike" dirty="0"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create a function</a:t>
            </a:r>
            <a:r>
              <a:rPr lang="en-US" sz="1900" b="0" i="0" u="none" strike="noStrike" dirty="0"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 that:</a:t>
            </a:r>
          </a:p>
          <a:p>
            <a:pPr marL="0" rtl="0">
              <a:lnSpc>
                <a:spcPct val="120000"/>
              </a:lnSpc>
              <a:spcBef>
                <a:spcPts val="0"/>
              </a:spcBef>
              <a:buNone/>
            </a:pPr>
            <a:endParaRPr lang="en-US" sz="1900" b="0" dirty="0">
              <a:effectLst/>
            </a:endParaRPr>
          </a:p>
          <a:p>
            <a:pPr marL="0" rtl="0" fontAlgn="base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900" b="0" i="0" u="none" strike="noStrike" dirty="0"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Searches for an employee by </a:t>
            </a:r>
            <a:r>
              <a:rPr lang="en-US" sz="1900" b="1" i="0" u="none" strike="noStrike" dirty="0"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name</a:t>
            </a:r>
            <a:endParaRPr lang="en-US" sz="1900" b="0" dirty="0">
              <a:effectLst/>
            </a:endParaRPr>
          </a:p>
          <a:p>
            <a:pPr marL="0" rtl="0" fontAlgn="base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900" b="0" i="0" u="none" strike="noStrike" dirty="0"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If the employee with the matching name is found:</a:t>
            </a:r>
          </a:p>
          <a:p>
            <a:pPr marL="457200" lvl="1" fontAlgn="base">
              <a:lnSpc>
                <a:spcPct val="120000"/>
              </a:lnSpc>
              <a:spcBef>
                <a:spcPts val="0"/>
              </a:spcBef>
            </a:pPr>
            <a:r>
              <a:rPr lang="en-US" sz="1900" b="0" i="0" u="none" strike="noStrike" dirty="0"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Increase their hourly rate by 20%</a:t>
            </a:r>
          </a:p>
          <a:p>
            <a:pPr marL="457200" lvl="1" fontAlgn="base">
              <a:lnSpc>
                <a:spcPct val="120000"/>
              </a:lnSpc>
              <a:spcBef>
                <a:spcPts val="0"/>
              </a:spcBef>
            </a:pPr>
            <a:r>
              <a:rPr lang="en-US" sz="1900" b="0" i="0" u="none" strike="noStrike" dirty="0"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Output a message to the screen showing their updated hourly rate</a:t>
            </a:r>
            <a:br>
              <a:rPr lang="en-US" sz="1900" b="0" dirty="0">
                <a:effectLst/>
              </a:rPr>
            </a:br>
            <a:endParaRPr lang="en-US" sz="1900" b="0" dirty="0">
              <a:effectLst/>
            </a:endParaRPr>
          </a:p>
          <a:p>
            <a:pPr marL="0" rtl="0" fontAlgn="base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900" b="0" i="0" u="none" strike="noStrike" dirty="0"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If the employee is not found:</a:t>
            </a:r>
          </a:p>
          <a:p>
            <a:pPr marL="457200" lvl="1" fontAlgn="base">
              <a:lnSpc>
                <a:spcPct val="120000"/>
              </a:lnSpc>
              <a:spcBef>
                <a:spcPts val="0"/>
              </a:spcBef>
            </a:pPr>
            <a:r>
              <a:rPr lang="en-US" sz="1900" b="0" i="0" u="none" strike="noStrike" dirty="0"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Output a message to the screen showing an appropriate error message</a:t>
            </a:r>
            <a:br>
              <a:rPr lang="en-US" sz="1900" b="0" dirty="0">
                <a:effectLst/>
              </a:rPr>
            </a:br>
            <a:endParaRPr lang="en-US" sz="1900" b="0" dirty="0">
              <a:effectLst/>
            </a:endParaRPr>
          </a:p>
          <a:p>
            <a:pPr marL="0" rtl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900" b="0" i="0" u="none" strike="noStrike" dirty="0"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Every employee has a </a:t>
            </a:r>
            <a:r>
              <a:rPr lang="en-US" sz="1900" b="1" i="0" u="none" strike="noStrike" dirty="0"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name</a:t>
            </a:r>
            <a:r>
              <a:rPr lang="en-US" sz="1900" b="0" i="0" u="none" strike="noStrike" dirty="0"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 and an </a:t>
            </a:r>
            <a:r>
              <a:rPr lang="en-US" sz="1900" b="1" i="0" u="none" strike="noStrike" dirty="0"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hourly rate</a:t>
            </a:r>
            <a:br>
              <a:rPr lang="en-US" sz="1900" b="0" dirty="0">
                <a:effectLst/>
              </a:rPr>
            </a:br>
            <a:endParaRPr lang="en-US" sz="1900" b="0" dirty="0">
              <a:effectLst/>
            </a:endParaRPr>
          </a:p>
          <a:p>
            <a:pPr marL="0" rtl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900" b="0" i="0" u="none" strike="noStrike" dirty="0">
                <a:solidFill>
                  <a:srgbClr val="B35900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900" b="0" i="0" u="none" strike="noStrike" dirty="0">
                <a:solidFill>
                  <a:srgbClr val="24292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900" b="0" i="0" u="none" strike="noStrike" dirty="0" err="1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employeesList</a:t>
            </a:r>
            <a:r>
              <a:rPr lang="en-US" sz="1900" b="0" i="0" u="none" strike="noStrike" dirty="0">
                <a:solidFill>
                  <a:srgbClr val="24292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900" b="0" i="0" u="none" strike="noStrike" dirty="0">
                <a:solidFill>
                  <a:srgbClr val="B35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900" b="0" i="0" u="none" strike="noStrike" dirty="0">
                <a:solidFill>
                  <a:srgbClr val="24292F"/>
                </a:solidFill>
                <a:effectLst/>
                <a:latin typeface="Consolas" panose="020B0609020204030204" pitchFamily="49" charset="0"/>
              </a:rPr>
              <a:t> [</a:t>
            </a:r>
            <a:endParaRPr lang="en-US" sz="1900" b="0" dirty="0">
              <a:effectLst/>
            </a:endParaRPr>
          </a:p>
          <a:p>
            <a:pPr marL="0" rtl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900" b="0" i="0" u="none" strike="noStrike" dirty="0">
                <a:solidFill>
                  <a:srgbClr val="24292F"/>
                </a:solidFill>
                <a:effectLst/>
                <a:latin typeface="Consolas" panose="020B0609020204030204" pitchFamily="49" charset="0"/>
              </a:rPr>
              <a:t>   {</a:t>
            </a:r>
            <a:r>
              <a:rPr lang="en-US" sz="1900" b="0" i="0" u="none" strike="noStrike" dirty="0" err="1">
                <a:solidFill>
                  <a:srgbClr val="24292F"/>
                </a:solidFill>
                <a:effectLst/>
                <a:latin typeface="Consolas" panose="020B0609020204030204" pitchFamily="49" charset="0"/>
              </a:rPr>
              <a:t>name:</a:t>
            </a:r>
            <a:r>
              <a:rPr lang="en-US" sz="1900" b="0" i="0" u="none" strike="noStrike" dirty="0" err="1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"Hana</a:t>
            </a:r>
            <a:r>
              <a:rPr lang="en-US" sz="1900" b="0" i="0" u="none" strike="noStrike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900" b="0" i="0" u="none" strike="noStrike" dirty="0">
                <a:solidFill>
                  <a:srgbClr val="24292F"/>
                </a:solidFill>
                <a:effectLst/>
                <a:latin typeface="Consolas" panose="020B0609020204030204" pitchFamily="49" charset="0"/>
              </a:rPr>
              <a:t>, hourlyRate:</a:t>
            </a:r>
            <a:r>
              <a:rPr lang="en-US" sz="1900" b="0" i="0" u="none" strike="noStrike" dirty="0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15.20</a:t>
            </a:r>
            <a:r>
              <a:rPr lang="en-US" sz="1900" b="0" i="0" u="none" strike="noStrike" dirty="0">
                <a:solidFill>
                  <a:srgbClr val="24292F"/>
                </a:solidFill>
                <a:effectLst/>
                <a:latin typeface="Consolas" panose="020B0609020204030204" pitchFamily="49" charset="0"/>
              </a:rPr>
              <a:t>},</a:t>
            </a:r>
            <a:endParaRPr lang="en-US" sz="1900" b="0" dirty="0">
              <a:effectLst/>
            </a:endParaRPr>
          </a:p>
          <a:p>
            <a:pPr marL="0" rtl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900" b="0" i="0" u="none" strike="noStrike" dirty="0">
                <a:solidFill>
                  <a:srgbClr val="24292F"/>
                </a:solidFill>
                <a:effectLst/>
                <a:latin typeface="Consolas" panose="020B0609020204030204" pitchFamily="49" charset="0"/>
              </a:rPr>
              <a:t>   {</a:t>
            </a:r>
            <a:r>
              <a:rPr lang="en-US" sz="1900" b="0" i="0" u="none" strike="noStrike" dirty="0" err="1">
                <a:solidFill>
                  <a:srgbClr val="24292F"/>
                </a:solidFill>
                <a:effectLst/>
                <a:latin typeface="Consolas" panose="020B0609020204030204" pitchFamily="49" charset="0"/>
              </a:rPr>
              <a:t>name:</a:t>
            </a:r>
            <a:r>
              <a:rPr lang="en-US" sz="1900" b="0" i="0" u="none" strike="noStrike" dirty="0" err="1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"Diego</a:t>
            </a:r>
            <a:r>
              <a:rPr lang="en-US" sz="1900" b="0" i="0" u="none" strike="noStrike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900" b="0" i="0" u="none" strike="noStrike" dirty="0">
                <a:solidFill>
                  <a:srgbClr val="24292F"/>
                </a:solidFill>
                <a:effectLst/>
                <a:latin typeface="Consolas" panose="020B0609020204030204" pitchFamily="49" charset="0"/>
              </a:rPr>
              <a:t>, hourlyRate:</a:t>
            </a:r>
            <a:r>
              <a:rPr lang="en-US" sz="1900" b="0" i="0" u="none" strike="noStrike" dirty="0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11.50</a:t>
            </a:r>
            <a:r>
              <a:rPr lang="en-US" sz="1900" b="0" i="0" u="none" strike="noStrike" dirty="0">
                <a:solidFill>
                  <a:srgbClr val="24292F"/>
                </a:solidFill>
                <a:effectLst/>
                <a:latin typeface="Consolas" panose="020B0609020204030204" pitchFamily="49" charset="0"/>
              </a:rPr>
              <a:t>},</a:t>
            </a:r>
            <a:endParaRPr lang="en-US" sz="1900" b="0" dirty="0">
              <a:effectLst/>
            </a:endParaRPr>
          </a:p>
          <a:p>
            <a:pPr marL="0" rtl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900" b="0" i="0" u="none" strike="noStrike" dirty="0">
                <a:solidFill>
                  <a:srgbClr val="24292F"/>
                </a:solidFill>
                <a:effectLst/>
                <a:latin typeface="Consolas" panose="020B0609020204030204" pitchFamily="49" charset="0"/>
              </a:rPr>
              <a:t>   {</a:t>
            </a:r>
            <a:r>
              <a:rPr lang="en-US" sz="1900" b="0" i="0" u="none" strike="noStrike" dirty="0" err="1">
                <a:solidFill>
                  <a:srgbClr val="24292F"/>
                </a:solidFill>
                <a:effectLst/>
                <a:latin typeface="Consolas" panose="020B0609020204030204" pitchFamily="49" charset="0"/>
              </a:rPr>
              <a:t>name:</a:t>
            </a:r>
            <a:r>
              <a:rPr lang="en-US" sz="1900" b="0" i="0" u="none" strike="noStrike" dirty="0" err="1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"Aisha</a:t>
            </a:r>
            <a:r>
              <a:rPr lang="en-US" sz="1900" b="0" i="0" u="none" strike="noStrike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900" b="0" i="0" u="none" strike="noStrike" dirty="0">
                <a:solidFill>
                  <a:srgbClr val="24292F"/>
                </a:solidFill>
                <a:effectLst/>
                <a:latin typeface="Consolas" panose="020B0609020204030204" pitchFamily="49" charset="0"/>
              </a:rPr>
              <a:t>, hourlyRate:</a:t>
            </a:r>
            <a:r>
              <a:rPr lang="en-US" sz="1900" b="0" i="0" u="none" strike="noStrike" dirty="0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25.18</a:t>
            </a:r>
            <a:r>
              <a:rPr lang="en-US" sz="1900" b="0" i="0" u="none" strike="noStrike" dirty="0">
                <a:solidFill>
                  <a:srgbClr val="24292F"/>
                </a:solidFill>
                <a:effectLst/>
                <a:latin typeface="Consolas" panose="020B0609020204030204" pitchFamily="49" charset="0"/>
              </a:rPr>
              <a:t>},</a:t>
            </a:r>
            <a:endParaRPr lang="en-US" sz="1900" b="0" dirty="0">
              <a:effectLst/>
            </a:endParaRPr>
          </a:p>
          <a:p>
            <a:pPr marL="0" rtl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900" b="0" i="0" u="none" strike="noStrike" dirty="0">
                <a:solidFill>
                  <a:srgbClr val="24292F"/>
                </a:solidFill>
                <a:effectLst/>
                <a:latin typeface="Consolas" panose="020B0609020204030204" pitchFamily="49" charset="0"/>
              </a:rPr>
              <a:t>]</a:t>
            </a:r>
            <a:endParaRPr lang="en-US" sz="1900" b="0" dirty="0">
              <a:effectLst/>
            </a:endParaRPr>
          </a:p>
          <a:p>
            <a:pPr marL="0" rtl="0">
              <a:lnSpc>
                <a:spcPct val="120000"/>
              </a:lnSpc>
              <a:spcBef>
                <a:spcPts val="0"/>
              </a:spcBef>
              <a:buNone/>
            </a:pPr>
            <a:endParaRPr lang="en-US" sz="1900" b="0" dirty="0">
              <a:effectLst/>
            </a:endParaRPr>
          </a:p>
          <a:p>
            <a:pPr marL="0" rtl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900" b="0" i="0" u="none" strike="noStrike" dirty="0"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The function should accept the </a:t>
            </a:r>
            <a:endParaRPr lang="en-US" sz="1900" b="0" dirty="0">
              <a:effectLst/>
            </a:endParaRPr>
          </a:p>
          <a:p>
            <a:pPr marL="0" rtl="0" fontAlgn="base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900" b="0" i="0" u="none" strike="noStrike" dirty="0"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array of </a:t>
            </a:r>
            <a:r>
              <a:rPr lang="en-US" sz="1900" b="1" i="0" u="none" strike="noStrike" dirty="0"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employees</a:t>
            </a:r>
            <a:r>
              <a:rPr lang="en-US" sz="1900" b="0" i="0" u="none" strike="noStrike" dirty="0"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 and </a:t>
            </a:r>
          </a:p>
          <a:p>
            <a:pPr marL="0" rtl="0" fontAlgn="base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900" b="1" i="0" u="none" strike="noStrike" dirty="0"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name</a:t>
            </a:r>
            <a:r>
              <a:rPr lang="en-US" sz="1900" b="0" i="0" u="none" strike="noStrike" dirty="0"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marL="0" rtl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900" b="0" i="0" u="none" strike="noStrike" dirty="0"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as function parameters</a:t>
            </a:r>
            <a:endParaRPr lang="en-US" sz="1900" b="0" dirty="0">
              <a:effectLst/>
            </a:endParaRPr>
          </a:p>
          <a:p>
            <a:pPr marL="0" rtl="0">
              <a:lnSpc>
                <a:spcPct val="120000"/>
              </a:lnSpc>
              <a:spcBef>
                <a:spcPts val="0"/>
              </a:spcBef>
              <a:buNone/>
            </a:pPr>
            <a:br>
              <a:rPr lang="en-US" sz="1900" b="0" dirty="0">
                <a:effectLst/>
              </a:rPr>
            </a:br>
            <a:r>
              <a:rPr lang="en-US" sz="1900" b="0" i="0" u="none" strike="noStrike" dirty="0">
                <a:solidFill>
                  <a:srgbClr val="B35900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900" b="0" i="0" u="none" strike="noStrike" dirty="0">
                <a:solidFill>
                  <a:srgbClr val="24292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900" b="0" i="0" u="none" strike="noStrike" dirty="0" err="1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increaseSalary</a:t>
            </a:r>
            <a:r>
              <a:rPr lang="en-US" sz="1900" b="0" i="0" u="none" strike="noStrike" dirty="0">
                <a:solidFill>
                  <a:srgbClr val="24292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900" b="0" i="0" u="none" strike="noStrike" dirty="0">
                <a:solidFill>
                  <a:srgbClr val="B35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900" b="0" i="0" u="none" strike="noStrike" dirty="0">
                <a:solidFill>
                  <a:srgbClr val="24292F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900" b="0" i="0" u="none" strike="noStrike" dirty="0" err="1">
                <a:solidFill>
                  <a:srgbClr val="8A4600"/>
                </a:solidFill>
                <a:effectLst/>
                <a:latin typeface="Consolas" panose="020B0609020204030204" pitchFamily="49" charset="0"/>
              </a:rPr>
              <a:t>employeesList</a:t>
            </a:r>
            <a:r>
              <a:rPr lang="en-US" sz="1900" b="0" i="0" u="none" strike="noStrike" dirty="0">
                <a:solidFill>
                  <a:srgbClr val="24292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900" b="0" i="0" u="none" strike="noStrike" dirty="0" err="1">
                <a:solidFill>
                  <a:srgbClr val="8A4600"/>
                </a:solidFill>
                <a:effectLst/>
                <a:latin typeface="Consolas" panose="020B0609020204030204" pitchFamily="49" charset="0"/>
              </a:rPr>
              <a:t>employeeName</a:t>
            </a:r>
            <a:r>
              <a:rPr lang="en-US" sz="1900" b="0" i="0" u="none" strike="noStrike" dirty="0">
                <a:solidFill>
                  <a:srgbClr val="24292F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900" b="0" i="0" u="none" strike="noStrike" dirty="0">
                <a:solidFill>
                  <a:srgbClr val="B35900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sz="1900" b="0" i="0" u="none" strike="noStrike" dirty="0">
                <a:solidFill>
                  <a:srgbClr val="24292F"/>
                </a:solidFill>
                <a:effectLst/>
                <a:latin typeface="Consolas" panose="020B0609020204030204" pitchFamily="49" charset="0"/>
              </a:rPr>
              <a:t> {</a:t>
            </a:r>
            <a:endParaRPr lang="en-US" sz="1900" b="0" dirty="0">
              <a:effectLst/>
            </a:endParaRPr>
          </a:p>
          <a:p>
            <a:pPr marL="0" rtl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900" b="0" i="0" u="none" strike="noStrike" dirty="0">
                <a:solidFill>
                  <a:srgbClr val="24292F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1900" b="0" dirty="0">
              <a:effectLst/>
            </a:endParaRPr>
          </a:p>
          <a:p>
            <a:pPr>
              <a:buNone/>
            </a:pPr>
            <a:endParaRPr lang="en-CA" sz="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F136EE-1B3E-F6DC-4865-FCF8AB96B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1A3E0-C5F4-4502-BDEA-6EA18A3414C9}" type="slidenum">
              <a:rPr lang="en-CA" smtClean="0"/>
              <a:t>11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535731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030921-9D1A-F83D-67EA-6E9DB0A3F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CA" sz="4000"/>
              <a:t>Summary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5B9561-A05F-C69B-FE9B-613E3F3561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>
            <a:normAutofit/>
          </a:bodyPr>
          <a:lstStyle/>
          <a:p>
            <a:endParaRPr lang="en-CA" sz="22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5419EE-3447-57C5-B4AB-AAEEA34BB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1A3E0-C5F4-4502-BDEA-6EA18A3414C9}" type="slidenum">
              <a:rPr lang="en-CA" smtClean="0"/>
              <a:t>12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252028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1059</Words>
  <Application>Microsoft Office PowerPoint</Application>
  <PresentationFormat>Widescreen</PresentationFormat>
  <Paragraphs>102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Consolas</vt:lpstr>
      <vt:lpstr>Wingdings</vt:lpstr>
      <vt:lpstr>Office Theme</vt:lpstr>
      <vt:lpstr>SEP 420 – Web Programming and Scripting</vt:lpstr>
      <vt:lpstr>Learning Outcomes</vt:lpstr>
      <vt:lpstr>Searching An Array</vt:lpstr>
      <vt:lpstr>Example:  Searching for a student named “Jasmine”</vt:lpstr>
      <vt:lpstr>How do you deal with the results of your search?</vt:lpstr>
      <vt:lpstr>Example code</vt:lpstr>
      <vt:lpstr>What do I set the default value of the tracking variable to?</vt:lpstr>
      <vt:lpstr>Example 3: Tracking Variables and Arrays of Objects</vt:lpstr>
      <vt:lpstr>When an item is found, do I need to keep searching the array?</vt:lpstr>
      <vt:lpstr>When an item is found, do I need to keep searching the array?</vt:lpstr>
      <vt:lpstr>Example: Searching a List of Employees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Yasemin Fanaeian</dc:creator>
  <cp:lastModifiedBy>Yasemin Fanaeian</cp:lastModifiedBy>
  <cp:revision>4</cp:revision>
  <dcterms:created xsi:type="dcterms:W3CDTF">2025-03-10T05:10:07Z</dcterms:created>
  <dcterms:modified xsi:type="dcterms:W3CDTF">2025-03-10T19:24:17Z</dcterms:modified>
</cp:coreProperties>
</file>